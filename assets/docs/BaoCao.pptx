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3dc13a85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3dc13a8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dc13a8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3dc13a8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3dc13a8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3dc13a8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3dc13a8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3dc13a8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3dc13a85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3dc13a8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3dc13a85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3dc13a8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dc13a8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dc13a8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dc13a85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3dc13a85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3dc13a85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3dc13a85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3dc13a85a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3dc13a85a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3dc13a85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3dc13a85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dc13a85a_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3dc13a85a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3dc13a85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3dc13a85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dc13a85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3dc13a85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3dc13a85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3dc13a85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3dc13a85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3dc13a85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3dc13a85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3dc13a85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3dc13a85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3dc13a85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3dc13a85a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3dc13a85a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3dc13a85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3dc13a85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3dc13a85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3dc13a85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3dc13a85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3dc13a85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kaggle.com/datasets/azureml/coco-2017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49933" y="813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Xử lý dữ liệu lớn với kỹ thuật Khớp Ảnh lập thể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-1498892" y="-2537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Nhóm 8:</a:t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-1568100" y="2266675"/>
            <a:ext cx="8520600" cy="18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Phạm Tiến Đạt</a:t>
            </a:r>
            <a:endParaRPr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Nguyễn Hồng Quân</a:t>
            </a:r>
            <a:endParaRPr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Ngô Đình Đạt</a:t>
            </a:r>
            <a:endParaRPr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Trần Đức Việt</a:t>
            </a:r>
            <a:endParaRPr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2002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2480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8200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009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67725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48550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371475"/>
            <a:ext cx="848677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58175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39150" cy="45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24775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01000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4390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623400" y="698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vi" sz="3600">
                <a:solidFill>
                  <a:srgbClr val="3F3F3F"/>
                </a:solidFill>
              </a:rPr>
              <a:t>THU NHẬP VÀ CHUẨN BỊ DỮ LIỆU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vi" sz="2820"/>
              <a:t>Dataset</a:t>
            </a:r>
            <a:endParaRPr sz="2820"/>
          </a:p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761150" y="1106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200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3"/>
              </a:rPr>
              <a:t>https://www.kaggle.com/datasets/azureml/coco-2017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vi" sz="3200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2.Giới thiệu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 sz="1100">
                <a:solidFill>
                  <a:schemeClr val="dk1"/>
                </a:solidFill>
              </a:rPr>
              <a:t>COCO (Common Objects in Context) 2017</a:t>
            </a:r>
            <a:r>
              <a:rPr lang="vi" sz="1100">
                <a:solidFill>
                  <a:schemeClr val="dk1"/>
                </a:solidFill>
              </a:rPr>
              <a:t> là một bộ dữ liệu lớn và đa dạng, được sử dụng rộng rãi trong các bài toán </a:t>
            </a:r>
            <a:r>
              <a:rPr b="1" lang="vi" sz="1100">
                <a:solidFill>
                  <a:schemeClr val="dk1"/>
                </a:solidFill>
              </a:rPr>
              <a:t>nhận dạng đối tượng</a:t>
            </a:r>
            <a:r>
              <a:rPr lang="vi" sz="1100">
                <a:solidFill>
                  <a:schemeClr val="dk1"/>
                </a:solidFill>
              </a:rPr>
              <a:t> (object detection), </a:t>
            </a:r>
            <a:r>
              <a:rPr b="1" lang="vi" sz="1100">
                <a:solidFill>
                  <a:schemeClr val="dk1"/>
                </a:solidFill>
              </a:rPr>
              <a:t>phân đoạn đối tượng</a:t>
            </a:r>
            <a:r>
              <a:rPr lang="vi" sz="1100">
                <a:solidFill>
                  <a:schemeClr val="dk1"/>
                </a:solidFill>
              </a:rPr>
              <a:t> (instance segmentation), </a:t>
            </a:r>
            <a:r>
              <a:rPr b="1" lang="vi" sz="1100">
                <a:solidFill>
                  <a:schemeClr val="dk1"/>
                </a:solidFill>
              </a:rPr>
              <a:t>phân loại ảnh</a:t>
            </a:r>
            <a:r>
              <a:rPr lang="vi" sz="1100">
                <a:solidFill>
                  <a:schemeClr val="dk1"/>
                </a:solidFill>
              </a:rPr>
              <a:t> (image classification), và </a:t>
            </a:r>
            <a:r>
              <a:rPr b="1" lang="vi" sz="1100">
                <a:solidFill>
                  <a:schemeClr val="dk1"/>
                </a:solidFill>
              </a:rPr>
              <a:t>mô tả hình ảnh</a:t>
            </a:r>
            <a:r>
              <a:rPr lang="vi" sz="1100">
                <a:solidFill>
                  <a:schemeClr val="dk1"/>
                </a:solidFill>
              </a:rPr>
              <a:t> (image captioning).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207900" y="8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3657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/>
          </a:p>
        </p:txBody>
      </p:sp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700">
                <a:solidFill>
                  <a:schemeClr val="dk1"/>
                </a:solidFill>
              </a:rPr>
              <a:t>Mục tiêu của </a:t>
            </a:r>
            <a:r>
              <a:rPr b="1" lang="vi" sz="1700">
                <a:solidFill>
                  <a:schemeClr val="dk1"/>
                </a:solidFill>
              </a:rPr>
              <a:t>COCO 2017</a:t>
            </a:r>
            <a:r>
              <a:rPr lang="vi" sz="1700">
                <a:solidFill>
                  <a:schemeClr val="dk1"/>
                </a:solidFill>
              </a:rPr>
              <a:t> là phát triển các mô hình </a:t>
            </a:r>
            <a:r>
              <a:rPr b="1" lang="vi" sz="1700">
                <a:solidFill>
                  <a:schemeClr val="dk1"/>
                </a:solidFill>
              </a:rPr>
              <a:t>thị giác máy tính</a:t>
            </a:r>
            <a:r>
              <a:rPr lang="vi" sz="1700">
                <a:solidFill>
                  <a:schemeClr val="dk1"/>
                </a:solidFill>
              </a:rPr>
              <a:t> (computer vision) thông qua các nhiệm vụ như:</a:t>
            </a:r>
            <a:endParaRPr sz="17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vi" sz="1300">
                <a:solidFill>
                  <a:schemeClr val="dk1"/>
                </a:solidFill>
              </a:rPr>
              <a:t>Nhận diện đối tượng</a:t>
            </a:r>
            <a:r>
              <a:rPr lang="vi" sz="1300">
                <a:solidFill>
                  <a:schemeClr val="dk1"/>
                </a:solidFill>
              </a:rPr>
              <a:t>: Phát hiện và xác định vị trí các đối tượng trong ảnh.</a:t>
            </a:r>
            <a:br>
              <a:rPr lang="vi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vi" sz="1300">
                <a:solidFill>
                  <a:schemeClr val="dk1"/>
                </a:solidFill>
              </a:rPr>
              <a:t>Phân đoạn đối tượng</a:t>
            </a:r>
            <a:r>
              <a:rPr lang="vi" sz="1300">
                <a:solidFill>
                  <a:schemeClr val="dk1"/>
                </a:solidFill>
              </a:rPr>
              <a:t>: Phân biệt đối tượng ở cấp độ pixel.</a:t>
            </a:r>
            <a:br>
              <a:rPr lang="vi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vi" sz="1300">
                <a:solidFill>
                  <a:schemeClr val="dk1"/>
                </a:solidFill>
              </a:rPr>
              <a:t>Phát hiện điểm đặc biệt</a:t>
            </a:r>
            <a:r>
              <a:rPr lang="vi" sz="1300">
                <a:solidFill>
                  <a:schemeClr val="dk1"/>
                </a:solidFill>
              </a:rPr>
              <a:t>: Nhận diện các điểm quan trọng (ví dụ: khớp cơ thể người).</a:t>
            </a:r>
            <a:br>
              <a:rPr lang="vi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vi" sz="1300">
                <a:solidFill>
                  <a:schemeClr val="dk1"/>
                </a:solidFill>
              </a:rPr>
              <a:t>Mô tả hình ảnh</a:t>
            </a:r>
            <a:r>
              <a:rPr lang="vi" sz="1300">
                <a:solidFill>
                  <a:schemeClr val="dk1"/>
                </a:solidFill>
              </a:rPr>
              <a:t>: Tạo mô tả văn bản cho các bức ảnh.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115650" y="87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vi" sz="47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 BỊ DỮ LIỆU</a:t>
            </a:r>
            <a:endParaRPr sz="1820"/>
          </a:p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265250" y="2063550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1. </a:t>
            </a:r>
            <a:r>
              <a:rPr b="1" lang="vi" sz="1400">
                <a:solidFill>
                  <a:schemeClr val="dk1"/>
                </a:solidFill>
              </a:rPr>
              <a:t>Chất lượng dữ liệu không đồng đều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2. </a:t>
            </a:r>
            <a:r>
              <a:rPr b="1" lang="vi" sz="1400">
                <a:solidFill>
                  <a:schemeClr val="dk1"/>
                </a:solidFill>
              </a:rPr>
              <a:t>Tính đa dạng của các đối tượng không đủ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3. </a:t>
            </a:r>
            <a:r>
              <a:rPr b="1" lang="vi" sz="1400">
                <a:solidFill>
                  <a:schemeClr val="dk1"/>
                </a:solidFill>
              </a:rPr>
              <a:t>Không hỗ trợ nhiều trường hợp thực tế phức tạp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4. </a:t>
            </a:r>
            <a:r>
              <a:rPr b="1" lang="vi" sz="1400">
                <a:solidFill>
                  <a:schemeClr val="dk1"/>
                </a:solidFill>
              </a:rPr>
              <a:t>Các chú thích có thể không chính xác hoặc thiếu sót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5. </a:t>
            </a:r>
            <a:r>
              <a:rPr b="1" lang="vi" sz="1400">
                <a:solidFill>
                  <a:schemeClr val="dk1"/>
                </a:solidFill>
              </a:rPr>
              <a:t>Không có dữ liệu cho các ngữ cảnh hoặc bối cảnh đặc biệt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265250" y="113017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200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3.Vấn đề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692600" y="2006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/>
              <a:t>Nhận diện đối tượng trong hình ảnh stereo chưa thấy trước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/>
              <a:t>Tạo các mô hình stereo từ các dữ liệu 2D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/>
              <a:t>Tăng tính linh hoạt trong thị giác máy tính 3D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/>
              <a:t>Giảm yêu cầu về dữ liệu stereo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1"/>
          <p:cNvSpPr txBox="1"/>
          <p:nvPr/>
        </p:nvSpPr>
        <p:spPr>
          <a:xfrm>
            <a:off x="69175" y="11186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200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tiêu:</a:t>
            </a:r>
            <a:endParaRPr/>
          </a:p>
        </p:txBody>
      </p:sp>
      <p:sp>
        <p:nvSpPr>
          <p:cNvPr id="152" name="Google Shape;152;p31"/>
          <p:cNvSpPr txBox="1"/>
          <p:nvPr/>
        </p:nvSpPr>
        <p:spPr>
          <a:xfrm>
            <a:off x="0" y="0"/>
            <a:ext cx="8374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47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 BỊ DỮ LIỆU</a:t>
            </a:r>
            <a:endParaRPr sz="18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0" y="0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b="1" lang="vi" sz="1800">
                <a:solidFill>
                  <a:srgbClr val="3F3F3F"/>
                </a:solidFill>
              </a:rPr>
              <a:t>So sánh thực nghiệm giữa các phương pháp </a:t>
            </a:r>
            <a:endParaRPr b="1" sz="1800"/>
          </a:p>
        </p:txBody>
      </p:sp>
      <p:pic>
        <p:nvPicPr>
          <p:cNvPr id="158" name="Google Shape;1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75" y="792825"/>
            <a:ext cx="5718723" cy="396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/>
        </p:nvSpPr>
        <p:spPr>
          <a:xfrm>
            <a:off x="139025" y="69500"/>
            <a:ext cx="57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</a:rPr>
              <a:t>Thực Nghiệm và kết quả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64" name="Google Shape;1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900" y="653800"/>
            <a:ext cx="66389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3" title="Bai1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50" y="2390375"/>
            <a:ext cx="8839201" cy="167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34400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4392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